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7" r:id="rId4"/>
    <p:sldId id="258" r:id="rId5"/>
    <p:sldId id="259" r:id="rId6"/>
    <p:sldId id="260" r:id="rId7"/>
    <p:sldId id="264" r:id="rId8"/>
    <p:sldId id="262" r:id="rId9"/>
    <p:sldId id="263" r:id="rId10"/>
    <p:sldId id="271" r:id="rId11"/>
    <p:sldId id="265" r:id="rId12"/>
    <p:sldId id="272" r:id="rId13"/>
    <p:sldId id="269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B82B5-E5C1-4109-B904-613660ADE777}" v="12" dt="2026-01-17T10:04:44.650"/>
    <p1510:client id="{0A03F5E2-B94C-4052-8BB0-B17AA39300F6}" v="8" dt="2026-01-17T15:32:05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 Narayana Reddy" userId="1eb7a6687ec9e193" providerId="LiveId" clId="{B0EDD865-17CC-4D70-932A-9461417EB6AE}"/>
    <pc:docChg chg="undo custSel addSld modSld">
      <pc:chgData name="Adi Narayana Reddy" userId="1eb7a6687ec9e193" providerId="LiveId" clId="{B0EDD865-17CC-4D70-932A-9461417EB6AE}" dt="2026-01-17T15:38:01.049" v="117" actId="1076"/>
      <pc:docMkLst>
        <pc:docMk/>
      </pc:docMkLst>
      <pc:sldChg chg="modSp mod">
        <pc:chgData name="Adi Narayana Reddy" userId="1eb7a6687ec9e193" providerId="LiveId" clId="{B0EDD865-17CC-4D70-932A-9461417EB6AE}" dt="2026-01-17T15:38:01.049" v="117" actId="1076"/>
        <pc:sldMkLst>
          <pc:docMk/>
          <pc:sldMk cId="559135665" sldId="265"/>
        </pc:sldMkLst>
        <pc:spChg chg="mod">
          <ac:chgData name="Adi Narayana Reddy" userId="1eb7a6687ec9e193" providerId="LiveId" clId="{B0EDD865-17CC-4D70-932A-9461417EB6AE}" dt="2026-01-17T12:11:47.081" v="0" actId="207"/>
          <ac:spMkLst>
            <pc:docMk/>
            <pc:sldMk cId="559135665" sldId="265"/>
            <ac:spMk id="4" creationId="{9A04E74B-984D-851D-7535-5E1AB99FF9CB}"/>
          </ac:spMkLst>
        </pc:spChg>
        <pc:spChg chg="mod">
          <ac:chgData name="Adi Narayana Reddy" userId="1eb7a6687ec9e193" providerId="LiveId" clId="{B0EDD865-17CC-4D70-932A-9461417EB6AE}" dt="2026-01-17T15:36:57.496" v="106" actId="14100"/>
          <ac:spMkLst>
            <pc:docMk/>
            <pc:sldMk cId="559135665" sldId="265"/>
            <ac:spMk id="66" creationId="{D622169F-909B-3E48-720C-0F92861D9CA9}"/>
          </ac:spMkLst>
        </pc:spChg>
        <pc:spChg chg="mod">
          <ac:chgData name="Adi Narayana Reddy" userId="1eb7a6687ec9e193" providerId="LiveId" clId="{B0EDD865-17CC-4D70-932A-9461417EB6AE}" dt="2026-01-17T15:37:06.142" v="108" actId="14100"/>
          <ac:spMkLst>
            <pc:docMk/>
            <pc:sldMk cId="559135665" sldId="265"/>
            <ac:spMk id="67" creationId="{76A10F40-99EC-DAB8-4E27-42DCF5731AF1}"/>
          </ac:spMkLst>
        </pc:spChg>
        <pc:spChg chg="mod">
          <ac:chgData name="Adi Narayana Reddy" userId="1eb7a6687ec9e193" providerId="LiveId" clId="{B0EDD865-17CC-4D70-932A-9461417EB6AE}" dt="2026-01-17T15:37:47.578" v="115" actId="14100"/>
          <ac:spMkLst>
            <pc:docMk/>
            <pc:sldMk cId="559135665" sldId="265"/>
            <ac:spMk id="68" creationId="{17EBF70D-8940-18FC-D5C5-109A5000C983}"/>
          </ac:spMkLst>
        </pc:spChg>
        <pc:spChg chg="mod">
          <ac:chgData name="Adi Narayana Reddy" userId="1eb7a6687ec9e193" providerId="LiveId" clId="{B0EDD865-17CC-4D70-932A-9461417EB6AE}" dt="2026-01-17T15:37:17.085" v="110" actId="14100"/>
          <ac:spMkLst>
            <pc:docMk/>
            <pc:sldMk cId="559135665" sldId="265"/>
            <ac:spMk id="69" creationId="{9C7240BC-9100-E157-52A1-F75D4C96119D}"/>
          </ac:spMkLst>
        </pc:spChg>
        <pc:spChg chg="mod">
          <ac:chgData name="Adi Narayana Reddy" userId="1eb7a6687ec9e193" providerId="LiveId" clId="{B0EDD865-17CC-4D70-932A-9461417EB6AE}" dt="2026-01-17T15:37:02.176" v="107" actId="1076"/>
          <ac:spMkLst>
            <pc:docMk/>
            <pc:sldMk cId="559135665" sldId="265"/>
            <ac:spMk id="70" creationId="{B03EA9CA-5046-D4AA-4CFE-47C1CCDE40AE}"/>
          </ac:spMkLst>
        </pc:spChg>
        <pc:spChg chg="mod">
          <ac:chgData name="Adi Narayana Reddy" userId="1eb7a6687ec9e193" providerId="LiveId" clId="{B0EDD865-17CC-4D70-932A-9461417EB6AE}" dt="2026-01-17T15:37:12.577" v="109" actId="1076"/>
          <ac:spMkLst>
            <pc:docMk/>
            <pc:sldMk cId="559135665" sldId="265"/>
            <ac:spMk id="71" creationId="{AED2154A-90A0-F822-EBBD-9C9A6724D89D}"/>
          </ac:spMkLst>
        </pc:spChg>
        <pc:spChg chg="mod">
          <ac:chgData name="Adi Narayana Reddy" userId="1eb7a6687ec9e193" providerId="LiveId" clId="{B0EDD865-17CC-4D70-932A-9461417EB6AE}" dt="2026-01-17T15:37:54.958" v="116" actId="1076"/>
          <ac:spMkLst>
            <pc:docMk/>
            <pc:sldMk cId="559135665" sldId="265"/>
            <ac:spMk id="72" creationId="{39737690-AE9F-FBA3-17A5-5C2D26CE1AC6}"/>
          </ac:spMkLst>
        </pc:spChg>
        <pc:spChg chg="mod">
          <ac:chgData name="Adi Narayana Reddy" userId="1eb7a6687ec9e193" providerId="LiveId" clId="{B0EDD865-17CC-4D70-932A-9461417EB6AE}" dt="2026-01-17T15:38:01.049" v="117" actId="1076"/>
          <ac:spMkLst>
            <pc:docMk/>
            <pc:sldMk cId="559135665" sldId="265"/>
            <ac:spMk id="73" creationId="{4EAF39FC-28F9-918A-0401-82DC7FBF2E16}"/>
          </ac:spMkLst>
        </pc:spChg>
      </pc:sldChg>
      <pc:sldChg chg="modSp mod">
        <pc:chgData name="Adi Narayana Reddy" userId="1eb7a6687ec9e193" providerId="LiveId" clId="{B0EDD865-17CC-4D70-932A-9461417EB6AE}" dt="2026-01-17T12:13:36.299" v="14" actId="122"/>
        <pc:sldMkLst>
          <pc:docMk/>
          <pc:sldMk cId="4005824050" sldId="269"/>
        </pc:sldMkLst>
        <pc:spChg chg="mod">
          <ac:chgData name="Adi Narayana Reddy" userId="1eb7a6687ec9e193" providerId="LiveId" clId="{B0EDD865-17CC-4D70-932A-9461417EB6AE}" dt="2026-01-17T12:13:36.299" v="14" actId="122"/>
          <ac:spMkLst>
            <pc:docMk/>
            <pc:sldMk cId="4005824050" sldId="269"/>
            <ac:spMk id="5" creationId="{AB403BD0-ABD7-99C0-D3E8-979C906989B6}"/>
          </ac:spMkLst>
        </pc:spChg>
      </pc:sldChg>
      <pc:sldChg chg="modSp mod">
        <pc:chgData name="Adi Narayana Reddy" userId="1eb7a6687ec9e193" providerId="LiveId" clId="{B0EDD865-17CC-4D70-932A-9461417EB6AE}" dt="2026-01-17T12:12:36.077" v="6" actId="115"/>
        <pc:sldMkLst>
          <pc:docMk/>
          <pc:sldMk cId="399126004" sldId="271"/>
        </pc:sldMkLst>
        <pc:spChg chg="mod">
          <ac:chgData name="Adi Narayana Reddy" userId="1eb7a6687ec9e193" providerId="LiveId" clId="{B0EDD865-17CC-4D70-932A-9461417EB6AE}" dt="2026-01-17T12:12:36.077" v="6" actId="115"/>
          <ac:spMkLst>
            <pc:docMk/>
            <pc:sldMk cId="399126004" sldId="271"/>
            <ac:spMk id="3" creationId="{A869BA57-E63D-93E1-46D9-A54C44C512E8}"/>
          </ac:spMkLst>
        </pc:spChg>
      </pc:sldChg>
      <pc:sldChg chg="addSp delSp modSp mod">
        <pc:chgData name="Adi Narayana Reddy" userId="1eb7a6687ec9e193" providerId="LiveId" clId="{B0EDD865-17CC-4D70-932A-9461417EB6AE}" dt="2026-01-17T15:36:29.823" v="105" actId="14100"/>
        <pc:sldMkLst>
          <pc:docMk/>
          <pc:sldMk cId="3374532195" sldId="272"/>
        </pc:sldMkLst>
        <pc:spChg chg="mod">
          <ac:chgData name="Adi Narayana Reddy" userId="1eb7a6687ec9e193" providerId="LiveId" clId="{B0EDD865-17CC-4D70-932A-9461417EB6AE}" dt="2026-01-17T15:25:25.982" v="33" actId="115"/>
          <ac:spMkLst>
            <pc:docMk/>
            <pc:sldMk cId="3374532195" sldId="272"/>
            <ac:spMk id="4" creationId="{2C932BC6-D0F2-73F3-938E-45392925778D}"/>
          </ac:spMkLst>
        </pc:spChg>
        <pc:picChg chg="del">
          <ac:chgData name="Adi Narayana Reddy" userId="1eb7a6687ec9e193" providerId="LiveId" clId="{B0EDD865-17CC-4D70-932A-9461417EB6AE}" dt="2026-01-17T15:36:20.766" v="103" actId="478"/>
          <ac:picMkLst>
            <pc:docMk/>
            <pc:sldMk cId="3374532195" sldId="272"/>
            <ac:picMk id="3" creationId="{2EE1C61B-F465-5BC7-F258-36EB470D1C1A}"/>
          </ac:picMkLst>
        </pc:picChg>
        <pc:picChg chg="add mod">
          <ac:chgData name="Adi Narayana Reddy" userId="1eb7a6687ec9e193" providerId="LiveId" clId="{B0EDD865-17CC-4D70-932A-9461417EB6AE}" dt="2026-01-17T15:36:29.823" v="105" actId="14100"/>
          <ac:picMkLst>
            <pc:docMk/>
            <pc:sldMk cId="3374532195" sldId="272"/>
            <ac:picMk id="5" creationId="{E1012351-8C25-F5B6-05A4-CD1EE770FC25}"/>
          </ac:picMkLst>
        </pc:picChg>
      </pc:sldChg>
      <pc:sldChg chg="modSp mod">
        <pc:chgData name="Adi Narayana Reddy" userId="1eb7a6687ec9e193" providerId="LiveId" clId="{B0EDD865-17CC-4D70-932A-9461417EB6AE}" dt="2026-01-17T12:13:57.470" v="18" actId="20577"/>
        <pc:sldMkLst>
          <pc:docMk/>
          <pc:sldMk cId="614316846" sldId="273"/>
        </pc:sldMkLst>
        <pc:spChg chg="mod">
          <ac:chgData name="Adi Narayana Reddy" userId="1eb7a6687ec9e193" providerId="LiveId" clId="{B0EDD865-17CC-4D70-932A-9461417EB6AE}" dt="2026-01-17T12:13:57.470" v="18" actId="20577"/>
          <ac:spMkLst>
            <pc:docMk/>
            <pc:sldMk cId="614316846" sldId="273"/>
            <ac:spMk id="5" creationId="{8DE0128C-9E04-6245-BB47-5F77EE06AA46}"/>
          </ac:spMkLst>
        </pc:spChg>
      </pc:sldChg>
      <pc:sldChg chg="addSp delSp modSp mod">
        <pc:chgData name="Adi Narayana Reddy" userId="1eb7a6687ec9e193" providerId="LiveId" clId="{B0EDD865-17CC-4D70-932A-9461417EB6AE}" dt="2026-01-17T12:14:23.620" v="26" actId="122"/>
        <pc:sldMkLst>
          <pc:docMk/>
          <pc:sldMk cId="2746746272" sldId="274"/>
        </pc:sldMkLst>
        <pc:spChg chg="add del mod">
          <ac:chgData name="Adi Narayana Reddy" userId="1eb7a6687ec9e193" providerId="LiveId" clId="{B0EDD865-17CC-4D70-932A-9461417EB6AE}" dt="2026-01-17T12:14:23.620" v="26" actId="122"/>
          <ac:spMkLst>
            <pc:docMk/>
            <pc:sldMk cId="2746746272" sldId="274"/>
            <ac:spMk id="5" creationId="{C3F7D3E4-D641-6262-19E9-BA68D6CE5DC8}"/>
          </ac:spMkLst>
        </pc:spChg>
      </pc:sldChg>
      <pc:sldChg chg="modSp mod">
        <pc:chgData name="Adi Narayana Reddy" userId="1eb7a6687ec9e193" providerId="LiveId" clId="{B0EDD865-17CC-4D70-932A-9461417EB6AE}" dt="2026-01-17T12:14:46.237" v="31" actId="1076"/>
        <pc:sldMkLst>
          <pc:docMk/>
          <pc:sldMk cId="3492341990" sldId="275"/>
        </pc:sldMkLst>
        <pc:spChg chg="mod">
          <ac:chgData name="Adi Narayana Reddy" userId="1eb7a6687ec9e193" providerId="LiveId" clId="{B0EDD865-17CC-4D70-932A-9461417EB6AE}" dt="2026-01-17T12:14:46.237" v="31" actId="1076"/>
          <ac:spMkLst>
            <pc:docMk/>
            <pc:sldMk cId="3492341990" sldId="275"/>
            <ac:spMk id="5" creationId="{81BA4638-81F6-2D0F-3ECA-5FDCC2A7C605}"/>
          </ac:spMkLst>
        </pc:spChg>
      </pc:sldChg>
      <pc:sldChg chg="modSp mod">
        <pc:chgData name="Adi Narayana Reddy" userId="1eb7a6687ec9e193" providerId="LiveId" clId="{B0EDD865-17CC-4D70-932A-9461417EB6AE}" dt="2026-01-17T12:14:55.008" v="32" actId="113"/>
        <pc:sldMkLst>
          <pc:docMk/>
          <pc:sldMk cId="4018322413" sldId="276"/>
        </pc:sldMkLst>
        <pc:spChg chg="mod">
          <ac:chgData name="Adi Narayana Reddy" userId="1eb7a6687ec9e193" providerId="LiveId" clId="{B0EDD865-17CC-4D70-932A-9461417EB6AE}" dt="2026-01-17T12:14:55.008" v="32" actId="113"/>
          <ac:spMkLst>
            <pc:docMk/>
            <pc:sldMk cId="4018322413" sldId="276"/>
            <ac:spMk id="2" creationId="{9B2B822E-C11E-E62F-631F-0E2A8B12F76F}"/>
          </ac:spMkLst>
        </pc:spChg>
      </pc:sldChg>
      <pc:sldChg chg="addSp delSp modSp new mod">
        <pc:chgData name="Adi Narayana Reddy" userId="1eb7a6687ec9e193" providerId="LiveId" clId="{B0EDD865-17CC-4D70-932A-9461417EB6AE}" dt="2026-01-17T15:33:06.452" v="102" actId="1076"/>
        <pc:sldMkLst>
          <pc:docMk/>
          <pc:sldMk cId="1235795264" sldId="277"/>
        </pc:sldMkLst>
        <pc:spChg chg="del">
          <ac:chgData name="Adi Narayana Reddy" userId="1eb7a6687ec9e193" providerId="LiveId" clId="{B0EDD865-17CC-4D70-932A-9461417EB6AE}" dt="2026-01-17T15:30:07.262" v="73" actId="478"/>
          <ac:spMkLst>
            <pc:docMk/>
            <pc:sldMk cId="1235795264" sldId="277"/>
            <ac:spMk id="2" creationId="{0245718F-CD7E-10F4-06E0-0A49932EA9E0}"/>
          </ac:spMkLst>
        </pc:spChg>
        <pc:spChg chg="del mod">
          <ac:chgData name="Adi Narayana Reddy" userId="1eb7a6687ec9e193" providerId="LiveId" clId="{B0EDD865-17CC-4D70-932A-9461417EB6AE}" dt="2026-01-17T15:28:53.917" v="57" actId="478"/>
          <ac:spMkLst>
            <pc:docMk/>
            <pc:sldMk cId="1235795264" sldId="277"/>
            <ac:spMk id="3" creationId="{DE75EDB9-F2EB-470F-8AD0-8556FD415472}"/>
          </ac:spMkLst>
        </pc:spChg>
        <pc:spChg chg="del">
          <ac:chgData name="Adi Narayana Reddy" userId="1eb7a6687ec9e193" providerId="LiveId" clId="{B0EDD865-17CC-4D70-932A-9461417EB6AE}" dt="2026-01-17T15:27:21.479" v="35" actId="478"/>
          <ac:spMkLst>
            <pc:docMk/>
            <pc:sldMk cId="1235795264" sldId="277"/>
            <ac:spMk id="4" creationId="{1E17B410-97A5-9ADA-76CF-B3212A9F04B7}"/>
          </ac:spMkLst>
        </pc:spChg>
        <pc:spChg chg="add mod">
          <ac:chgData name="Adi Narayana Reddy" userId="1eb7a6687ec9e193" providerId="LiveId" clId="{B0EDD865-17CC-4D70-932A-9461417EB6AE}" dt="2026-01-17T15:30:03.103" v="72" actId="1076"/>
          <ac:spMkLst>
            <pc:docMk/>
            <pc:sldMk cId="1235795264" sldId="277"/>
            <ac:spMk id="6" creationId="{204F6EF9-ECA8-E434-5A6C-9CA1E6322572}"/>
          </ac:spMkLst>
        </pc:spChg>
        <pc:spChg chg="add mod">
          <ac:chgData name="Adi Narayana Reddy" userId="1eb7a6687ec9e193" providerId="LiveId" clId="{B0EDD865-17CC-4D70-932A-9461417EB6AE}" dt="2026-01-17T15:31:41.176" v="89" actId="1076"/>
          <ac:spMkLst>
            <pc:docMk/>
            <pc:sldMk cId="1235795264" sldId="277"/>
            <ac:spMk id="7" creationId="{3F927B8B-6135-F431-BC81-7079D0535280}"/>
          </ac:spMkLst>
        </pc:spChg>
        <pc:spChg chg="add mod">
          <ac:chgData name="Adi Narayana Reddy" userId="1eb7a6687ec9e193" providerId="LiveId" clId="{B0EDD865-17CC-4D70-932A-9461417EB6AE}" dt="2026-01-17T15:33:06.452" v="102" actId="1076"/>
          <ac:spMkLst>
            <pc:docMk/>
            <pc:sldMk cId="1235795264" sldId="277"/>
            <ac:spMk id="8" creationId="{2C992C77-3A8F-01F9-5324-8C5AB2CD325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8:59:51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24440,'-17'10451'0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0:2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24217,'11866'0'0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0:37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24159,'51'1996'0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0:5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9513 0 24484,'-9512'51'0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0:5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23209,'0'8442'0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1:1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24379,'2233'-51'0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1:21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24381,'9398'0'0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1:33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24487,'0'8182'0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2:04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24424,'51'4023'0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2:18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24044,'0'4040'0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2:27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4739 0 24386,'-4738'0'0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2:35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71 24575,'0'-3'0,"0"-4"0,0-3 0,0-4 0,2 1 0,2 1 0,3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00.5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24425,'4484'0'0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1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23796,'0'4076'0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1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1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23778,'2300'-68'0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2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3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24452,'4606'0'0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4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23254,'0'1961'0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46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2302 69 24421,'-2301'-68'0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3:4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23143,'0'2029'0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4:39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23778,'52'1824'0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4:43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24156,'2113'-34'0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4:46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1773 24207,'-103'-1773'0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9:04:50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2011 0 24169,'-2010'17'0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00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1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13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99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46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15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4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33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25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33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2A365-9AB7-4A18-836D-AE0FB74E4BA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B187-F0BF-416E-A62A-9CE6FC0F1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0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arrie1/ecommerce-data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5.png"/><Relationship Id="rId26" Type="http://schemas.openxmlformats.org/officeDocument/2006/relationships/image" Target="../media/image19.png"/><Relationship Id="rId39" Type="http://schemas.openxmlformats.org/officeDocument/2006/relationships/image" Target="../media/image25.png"/><Relationship Id="rId21" Type="http://schemas.openxmlformats.org/officeDocument/2006/relationships/customXml" Target="../ink/ink10.xml"/><Relationship Id="rId34" Type="http://schemas.openxmlformats.org/officeDocument/2006/relationships/image" Target="../media/image23.png"/><Relationship Id="rId42" Type="http://schemas.openxmlformats.org/officeDocument/2006/relationships/customXml" Target="../ink/ink21.xml"/><Relationship Id="rId47" Type="http://schemas.openxmlformats.org/officeDocument/2006/relationships/image" Target="../media/image29.png"/><Relationship Id="rId50" Type="http://schemas.openxmlformats.org/officeDocument/2006/relationships/customXml" Target="../ink/ink25.xml"/><Relationship Id="rId7" Type="http://schemas.openxmlformats.org/officeDocument/2006/relationships/customXml" Target="../ink/ink3.xml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8.png"/><Relationship Id="rId32" Type="http://schemas.openxmlformats.org/officeDocument/2006/relationships/image" Target="../media/image22.png"/><Relationship Id="rId37" Type="http://schemas.openxmlformats.org/officeDocument/2006/relationships/image" Target="../media/image24.png"/><Relationship Id="rId40" Type="http://schemas.openxmlformats.org/officeDocument/2006/relationships/customXml" Target="../ink/ink20.xml"/><Relationship Id="rId45" Type="http://schemas.openxmlformats.org/officeDocument/2006/relationships/image" Target="../media/image28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0.png"/><Relationship Id="rId36" Type="http://schemas.openxmlformats.org/officeDocument/2006/relationships/customXml" Target="../ink/ink18.xml"/><Relationship Id="rId49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customXml" Target="../ink/ink22.xml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Relationship Id="rId27" Type="http://schemas.openxmlformats.org/officeDocument/2006/relationships/customXml" Target="../ink/ink13.xml"/><Relationship Id="rId30" Type="http://schemas.openxmlformats.org/officeDocument/2006/relationships/image" Target="../media/image21.png"/><Relationship Id="rId35" Type="http://schemas.openxmlformats.org/officeDocument/2006/relationships/customXml" Target="../ink/ink17.xml"/><Relationship Id="rId43" Type="http://schemas.openxmlformats.org/officeDocument/2006/relationships/image" Target="../media/image27.png"/><Relationship Id="rId48" Type="http://schemas.openxmlformats.org/officeDocument/2006/relationships/customXml" Target="../ink/ink24.xml"/><Relationship Id="rId8" Type="http://schemas.openxmlformats.org/officeDocument/2006/relationships/image" Target="../media/image10.png"/><Relationship Id="rId51" Type="http://schemas.openxmlformats.org/officeDocument/2006/relationships/image" Target="../media/image31.png"/><Relationship Id="rId3" Type="http://schemas.openxmlformats.org/officeDocument/2006/relationships/customXml" Target="../ink/ink1.xml"/><Relationship Id="rId12" Type="http://schemas.openxmlformats.org/officeDocument/2006/relationships/image" Target="../media/image12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image" Target="../media/image16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3DA6-ADE3-C9AE-FFB3-0E023F6283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Strategic Customer Segmentation &amp; Revenue Optimization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25B0-8B8C-FE2C-712B-546917D42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5724" y="3992650"/>
            <a:ext cx="8673427" cy="352751"/>
          </a:xfrm>
        </p:spPr>
        <p:txBody>
          <a:bodyPr/>
          <a:lstStyle/>
          <a:p>
            <a:r>
              <a:rPr lang="en-IN" dirty="0"/>
              <a:t>RFM Analysis &amp; </a:t>
            </a:r>
            <a:r>
              <a:rPr lang="en-IN" dirty="0" err="1"/>
              <a:t>Behavioral</a:t>
            </a:r>
            <a:r>
              <a:rPr lang="en-IN" dirty="0"/>
              <a:t> Clustering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4BC6F-BC8A-F60A-FDD4-F25976AFF7AC}"/>
              </a:ext>
            </a:extLst>
          </p:cNvPr>
          <p:cNvSpPr txBox="1"/>
          <p:nvPr/>
        </p:nvSpPr>
        <p:spPr>
          <a:xfrm>
            <a:off x="6707645" y="4866571"/>
            <a:ext cx="36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Bef>
                <a:spcPts val="1000"/>
              </a:spcBef>
              <a:buClr>
                <a:schemeClr val="accent1"/>
              </a:buClr>
              <a:buSzPct val="110000"/>
            </a:pPr>
            <a:r>
              <a:rPr lang="en-IN" dirty="0">
                <a:solidFill>
                  <a:srgbClr val="FFFEFF"/>
                </a:solidFill>
              </a:rPr>
              <a:t>- </a:t>
            </a:r>
            <a:r>
              <a:rPr lang="en-IN" dirty="0" err="1">
                <a:solidFill>
                  <a:srgbClr val="FFFEFF"/>
                </a:solidFill>
              </a:rPr>
              <a:t>Nallamilli</a:t>
            </a:r>
            <a:r>
              <a:rPr lang="en-IN" dirty="0">
                <a:solidFill>
                  <a:srgbClr val="FFFEFF"/>
                </a:solidFill>
              </a:rPr>
              <a:t> Adi Narayana Reddy</a:t>
            </a:r>
          </a:p>
        </p:txBody>
      </p:sp>
    </p:spTree>
    <p:extLst>
      <p:ext uri="{BB962C8B-B14F-4D97-AF65-F5344CB8AC3E}">
        <p14:creationId xmlns:p14="http://schemas.microsoft.com/office/powerpoint/2010/main" val="25093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3307-3014-6AFB-9ACC-87053726D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Objective </a:t>
            </a:r>
            <a:br>
              <a:rPr lang="en-IN" b="1" dirty="0"/>
            </a:br>
            <a:r>
              <a:rPr lang="en-IN" b="1" dirty="0"/>
              <a:t>(The "Why")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9396B-B1E2-69DB-6E26-783DF7AEF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> "A 'one-size-fits-all' marketing strategy is inefficient and wastes budget."</a:t>
            </a:r>
          </a:p>
          <a:p>
            <a:r>
              <a:rPr lang="en-US" b="1" dirty="0"/>
              <a:t>Objective:</a:t>
            </a:r>
            <a:r>
              <a:rPr lang="en-US" dirty="0"/>
              <a:t> "To segment the customer base using transaction data to identify High-Value customers and At-Risk users."</a:t>
            </a:r>
          </a:p>
          <a:p>
            <a:r>
              <a:rPr lang="en-US" b="1" dirty="0"/>
              <a:t>Goal:</a:t>
            </a:r>
            <a:r>
              <a:rPr lang="en-US" dirty="0"/>
              <a:t> "Provide actionable recommendations to maximize Customer Lifetime Value (CLV).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54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4F6EF9-ECA8-E434-5A6C-9CA1E632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63" y="2289069"/>
            <a:ext cx="5776646" cy="1669239"/>
          </a:xfrm>
        </p:spPr>
        <p:txBody>
          <a:bodyPr>
            <a:normAutofit fontScale="90000"/>
          </a:bodyPr>
          <a:lstStyle/>
          <a:p>
            <a:pPr algn="l"/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IN" sz="2400" b="1" dirty="0">
                <a:solidFill>
                  <a:schemeClr val="bg1"/>
                </a:solidFill>
              </a:rPr>
              <a:t>Source:</a:t>
            </a:r>
            <a:r>
              <a:rPr lang="en-IN" sz="2400" dirty="0">
                <a:solidFill>
                  <a:schemeClr val="bg1"/>
                </a:solidFill>
              </a:rPr>
              <a:t> [</a:t>
            </a:r>
            <a:r>
              <a:rPr lang="en-IN" sz="2400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- E-commerce Dataset</a:t>
            </a:r>
            <a:r>
              <a:rPr lang="en-IN" sz="2400" dirty="0">
                <a:solidFill>
                  <a:schemeClr val="bg1"/>
                </a:solidFill>
              </a:rPr>
              <a:t>]</a:t>
            </a:r>
            <a:br>
              <a:rPr lang="en-IN" sz="2400" dirty="0"/>
            </a:br>
            <a:br>
              <a:rPr lang="en-IN" sz="2400" dirty="0"/>
            </a:br>
            <a:r>
              <a:rPr lang="en-US" sz="2400" b="1" dirty="0">
                <a:solidFill>
                  <a:schemeClr val="bg1"/>
                </a:solidFill>
              </a:rPr>
              <a:t>Size: </a:t>
            </a:r>
            <a:r>
              <a:rPr lang="en-US" sz="2400" dirty="0">
                <a:solidFill>
                  <a:schemeClr val="bg1"/>
                </a:solidFill>
              </a:rPr>
              <a:t>(541909, 8)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Timeframe:</a:t>
            </a:r>
            <a:r>
              <a:rPr lang="en-US" sz="2400" dirty="0">
                <a:solidFill>
                  <a:schemeClr val="bg1"/>
                </a:solidFill>
              </a:rPr>
              <a:t> 01/12/2010 to 09/12/2011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27B8B-6135-F431-BC81-7079D0535280}"/>
              </a:ext>
            </a:extLst>
          </p:cNvPr>
          <p:cNvSpPr txBox="1"/>
          <p:nvPr/>
        </p:nvSpPr>
        <p:spPr>
          <a:xfrm>
            <a:off x="7388843" y="1712198"/>
            <a:ext cx="4522905" cy="333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</a:pPr>
            <a:r>
              <a:rPr lang="en-US" b="1" u="sng" dirty="0">
                <a:solidFill>
                  <a:schemeClr val="accent1"/>
                </a:solidFill>
              </a:rPr>
              <a:t>Key Variables:</a:t>
            </a:r>
          </a:p>
          <a:p>
            <a:pPr marL="146050" lvl="0">
              <a:spcBef>
                <a:spcPts val="1500"/>
              </a:spcBef>
              <a:buClr>
                <a:schemeClr val="lt2"/>
              </a:buClr>
              <a:buSzPts val="1300"/>
            </a:pPr>
            <a:r>
              <a:rPr lang="en-US" b="1" dirty="0" err="1"/>
              <a:t>InvoiceNo</a:t>
            </a:r>
            <a:r>
              <a:rPr lang="en-US" b="1" dirty="0"/>
              <a:t>: </a:t>
            </a:r>
            <a:r>
              <a:rPr lang="en-US" dirty="0"/>
              <a:t>Unique transaction ID</a:t>
            </a:r>
          </a:p>
          <a:p>
            <a:pPr marL="146050" lvl="0">
              <a:buClr>
                <a:schemeClr val="lt2"/>
              </a:buClr>
              <a:buSzPts val="1300"/>
            </a:pPr>
            <a:r>
              <a:rPr lang="en-US" b="1" dirty="0" err="1"/>
              <a:t>StockCode</a:t>
            </a:r>
            <a:r>
              <a:rPr lang="en-US" b="1" dirty="0"/>
              <a:t>: </a:t>
            </a:r>
            <a:r>
              <a:rPr lang="en-US" dirty="0"/>
              <a:t>Unique product identifier</a:t>
            </a:r>
          </a:p>
          <a:p>
            <a:pPr marL="146050" lvl="0">
              <a:buClr>
                <a:srgbClr val="3C4043"/>
              </a:buClr>
              <a:buSzPts val="1300"/>
            </a:pPr>
            <a:r>
              <a:rPr lang="en-US" b="1" dirty="0"/>
              <a:t>Description: </a:t>
            </a:r>
            <a:r>
              <a:rPr lang="en-US" dirty="0"/>
              <a:t>Product description</a:t>
            </a:r>
          </a:p>
          <a:p>
            <a:pPr marL="146050" lvl="0">
              <a:buClr>
                <a:schemeClr val="lt2"/>
              </a:buClr>
              <a:buSzPts val="1300"/>
            </a:pPr>
            <a:r>
              <a:rPr lang="en-US" b="1" dirty="0"/>
              <a:t>Quantity: </a:t>
            </a:r>
            <a:r>
              <a:rPr lang="en-US" dirty="0"/>
              <a:t>Number of items purchased</a:t>
            </a:r>
          </a:p>
          <a:p>
            <a:pPr marL="146050" lvl="0">
              <a:buClr>
                <a:schemeClr val="lt2"/>
              </a:buClr>
              <a:buSzPts val="1300"/>
            </a:pPr>
            <a:r>
              <a:rPr lang="en-US" b="1" dirty="0" err="1"/>
              <a:t>InvoiceDate</a:t>
            </a:r>
            <a:r>
              <a:rPr lang="en-US" b="1" dirty="0"/>
              <a:t>: </a:t>
            </a:r>
            <a:r>
              <a:rPr lang="en-US" dirty="0"/>
              <a:t>Timestamp of purchase</a:t>
            </a:r>
          </a:p>
          <a:p>
            <a:pPr marL="146050" lvl="0">
              <a:buClr>
                <a:schemeClr val="lt2"/>
              </a:buClr>
              <a:buSzPts val="1300"/>
            </a:pPr>
            <a:r>
              <a:rPr lang="en-US" b="1" dirty="0" err="1"/>
              <a:t>UnitPrice</a:t>
            </a:r>
            <a:r>
              <a:rPr lang="en-US" b="1" dirty="0"/>
              <a:t>: </a:t>
            </a:r>
            <a:r>
              <a:rPr lang="en-US" dirty="0"/>
              <a:t>Price per unit in GBP</a:t>
            </a:r>
          </a:p>
          <a:p>
            <a:pPr marL="146050" lvl="0">
              <a:buClr>
                <a:schemeClr val="lt2"/>
              </a:buClr>
              <a:buSzPts val="1300"/>
            </a:pPr>
            <a:r>
              <a:rPr lang="en-US" b="1" dirty="0" err="1"/>
              <a:t>CustomerID</a:t>
            </a:r>
            <a:r>
              <a:rPr lang="en-US" b="1" dirty="0"/>
              <a:t>: </a:t>
            </a:r>
            <a:r>
              <a:rPr lang="en-US" dirty="0"/>
              <a:t>Unique customer identifier</a:t>
            </a:r>
          </a:p>
          <a:p>
            <a:pPr marL="146050" lvl="0">
              <a:buClr>
                <a:schemeClr val="lt2"/>
              </a:buClr>
              <a:buSzPts val="1300"/>
            </a:pPr>
            <a:r>
              <a:rPr lang="en-US" b="1" dirty="0"/>
              <a:t>Country: </a:t>
            </a:r>
            <a:r>
              <a:rPr lang="en-US" dirty="0"/>
              <a:t>Location of the customer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92C77-3A8F-01F9-5324-8C5AB2CD3252}"/>
              </a:ext>
            </a:extLst>
          </p:cNvPr>
          <p:cNvSpPr txBox="1"/>
          <p:nvPr/>
        </p:nvSpPr>
        <p:spPr>
          <a:xfrm>
            <a:off x="877578" y="1581183"/>
            <a:ext cx="5776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4000" b="1" spc="-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</a:t>
            </a:r>
            <a:r>
              <a:rPr lang="en" sz="4000" b="1" dirty="0">
                <a:solidFill>
                  <a:schemeClr val="bg2"/>
                </a:solidFill>
              </a:rPr>
              <a:t> </a:t>
            </a:r>
            <a:r>
              <a:rPr lang="en" sz="4000" b="1" spc="-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Overview</a:t>
            </a:r>
            <a:endParaRPr lang="en-IN" sz="4000" b="1" spc="-15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3579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77C92-583D-27CD-1753-2BD1EEC8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 &amp; Integrity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28A4-FBA1-710A-EE66-F765A2B2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0"/>
            <a:ext cx="6281873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Ensuring Data Quality for Accurate Analysis:</a:t>
            </a:r>
          </a:p>
          <a:p>
            <a:r>
              <a:rPr lang="en-IN" b="1" dirty="0"/>
              <a:t>1: Missing Data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Removed 135k records with missing IDs to ensure user trackability.</a:t>
            </a:r>
          </a:p>
          <a:p>
            <a:r>
              <a:rPr lang="en-IN" b="1" dirty="0"/>
              <a:t>2: Invalid Codes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Excluded non-product transactions (Postage, Fees) to isolate sales demand.</a:t>
            </a:r>
          </a:p>
          <a:p>
            <a:pPr marL="0" indent="0">
              <a:buNone/>
            </a:pP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C9607-995B-7A1F-446C-E7FA2C2B6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920" y="1339601"/>
            <a:ext cx="3343742" cy="898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4B710-7004-B6AA-E7BB-FC0C8583B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920" y="3765884"/>
            <a:ext cx="5276838" cy="197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0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4642-EA5C-96D4-3246-F58E316E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 &amp; Integrity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9656-50B8-DBC0-2C53-895515E91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0"/>
            <a:ext cx="6281873" cy="6858000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3: Cancellations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Filtered cancelled orders to prevent revenue distortion.</a:t>
            </a:r>
            <a:endParaRPr lang="en-US" b="1" dirty="0"/>
          </a:p>
          <a:p>
            <a:r>
              <a:rPr lang="en-US" b="1" dirty="0"/>
              <a:t>4: Feature Engineering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Calculated Total Sales (Qty * Price) to generate the Monetary (M) metric.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512F1-8F4C-E0D0-7855-B87C94134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128" y="755492"/>
            <a:ext cx="5381914" cy="2097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BDC491-024C-7C38-20B4-895BE0D47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128" y="3705726"/>
            <a:ext cx="4082504" cy="200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5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794B-84B3-E528-1024-C4E55700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 &amp; Integrity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88428-E9FE-25B6-37F7-CD5F6B10C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Removed Duplicates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Identified and removed 5,220 duplicate entries. Duplicate records would artificially double the Frequency and Revenue numbers, leading to false "High Value" categorizations.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C6B3-46E2-73E7-9341-6DD09768D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84" y="2055706"/>
            <a:ext cx="4372585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9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2850-59E9-51E1-180C-B3CE53DE9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b="1" dirty="0"/>
              <a:t>Pareto Principle:</a:t>
            </a:r>
            <a:br>
              <a:rPr lang="en" dirty="0"/>
            </a:br>
            <a:r>
              <a:rPr lang="en" sz="2800" dirty="0"/>
              <a:t>“</a:t>
            </a:r>
            <a:r>
              <a:rPr lang="en-US" sz="2800" b="1" dirty="0"/>
              <a:t>A small fraction of inputs generates the bulk of the results”</a:t>
            </a:r>
            <a:endParaRPr lang="en-IN" sz="2800" dirty="0"/>
          </a:p>
        </p:txBody>
      </p:sp>
      <p:pic>
        <p:nvPicPr>
          <p:cNvPr id="4" name="Google Shape;134;p21" title="Pareto.jpg">
            <a:extLst>
              <a:ext uri="{FF2B5EF4-FFF2-40B4-BE49-F238E27FC236}">
                <a16:creationId xmlns:a16="http://schemas.microsoft.com/office/drawing/2014/main" id="{8D5C35F0-FE7E-3E9B-E9EB-0BF67B1B56B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36362" y="804862"/>
            <a:ext cx="3933971" cy="524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514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382B-C24B-77A4-3D26-10DDEC1F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84811"/>
          </a:xfrm>
        </p:spPr>
        <p:txBody>
          <a:bodyPr/>
          <a:lstStyle/>
          <a:p>
            <a:r>
              <a:rPr lang="en-IN" b="1" dirty="0"/>
              <a:t>The Customer Insight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4F5F9-3D26-F090-8DE4-0ED877AED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8947" y="613610"/>
            <a:ext cx="6265088" cy="4235116"/>
          </a:xfrm>
        </p:spPr>
        <p:txBody>
          <a:bodyPr/>
          <a:lstStyle/>
          <a:p>
            <a:r>
              <a:rPr lang="en-US" sz="8000" dirty="0"/>
              <a:t>26.12%</a:t>
            </a:r>
          </a:p>
          <a:p>
            <a:r>
              <a:rPr lang="en-US" dirty="0"/>
              <a:t>Of customers contribute to</a:t>
            </a:r>
          </a:p>
          <a:p>
            <a:r>
              <a:rPr lang="en-US" sz="8000" dirty="0"/>
              <a:t>80% </a:t>
            </a:r>
          </a:p>
          <a:p>
            <a:r>
              <a:rPr lang="en-US" dirty="0"/>
              <a:t>Of total revenue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0A4D-3A6E-F65D-496E-D4921A2CD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18447" y="4138863"/>
            <a:ext cx="6265588" cy="19168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business is highly dependent on a small "Vital Few." Losing a fraction of this top 26% would disproportionately impact the bottom line. Retention of this group is the #1 priority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001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AF5A-6A28-1EC5-725E-F3A5628D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Product Insight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B0C92-7EA5-513D-547B-474B6571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5137" y="803184"/>
            <a:ext cx="6265088" cy="3371773"/>
          </a:xfrm>
        </p:spPr>
        <p:txBody>
          <a:bodyPr/>
          <a:lstStyle/>
          <a:p>
            <a:r>
              <a:rPr lang="en-US" sz="8000" dirty="0"/>
              <a:t>23.25%</a:t>
            </a:r>
          </a:p>
          <a:p>
            <a:r>
              <a:rPr lang="en-US" dirty="0"/>
              <a:t>Of products contribute to</a:t>
            </a:r>
          </a:p>
          <a:p>
            <a:r>
              <a:rPr lang="en-US" sz="8000" dirty="0"/>
              <a:t>80% </a:t>
            </a:r>
          </a:p>
          <a:p>
            <a:r>
              <a:rPr lang="en-US" dirty="0"/>
              <a:t>of sales volume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EEB68-AADC-9946-82C5-B1FDEE9B41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small catalog drives the majority of sales. The remaining 79% of products ('The Long Tail') may be increasing storage costs without generating significant ROI.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98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AE7884-CE73-08E8-EBF4-F43452578D50}"/>
              </a:ext>
            </a:extLst>
          </p:cNvPr>
          <p:cNvSpPr txBox="1"/>
          <p:nvPr/>
        </p:nvSpPr>
        <p:spPr>
          <a:xfrm>
            <a:off x="312983" y="736430"/>
            <a:ext cx="60509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Logic:</a:t>
            </a:r>
            <a:endParaRPr lang="en-IN" b="1" dirty="0"/>
          </a:p>
          <a:p>
            <a:endParaRPr lang="en-US" b="1" dirty="0"/>
          </a:p>
          <a:p>
            <a:r>
              <a:rPr lang="en-US" b="1" dirty="0"/>
              <a:t>1. The Three Pillars of Value: </a:t>
            </a:r>
            <a:r>
              <a:rPr lang="en-US" dirty="0"/>
              <a:t>We evaluated every customer on three key </a:t>
            </a:r>
            <a:r>
              <a:rPr lang="en-US" dirty="0" err="1"/>
              <a:t>behavioural</a:t>
            </a:r>
            <a:r>
              <a:rPr lang="en-US" dirty="0"/>
              <a:t> dimensions: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Recency (R): How long since their last purchase? (Proxy for: Engagement)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Frequency (F): How often do they transact? (Proxy for: Loyalty)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Monetary (M): How much total revenue have they generated? (Proxy for: Value)</a:t>
            </a:r>
          </a:p>
          <a:p>
            <a:endParaRPr lang="en-US" b="1" dirty="0"/>
          </a:p>
          <a:p>
            <a:r>
              <a:rPr lang="en-US" b="1" dirty="0"/>
              <a:t>2. The Scoring Mechanism (Quintiles): </a:t>
            </a:r>
            <a:r>
              <a:rPr lang="en-US" dirty="0"/>
              <a:t>Using SQL's NTILE(5) function, we statistically ranked and divided customers into 5 equal groups:</a:t>
            </a:r>
          </a:p>
          <a:p>
            <a:r>
              <a:rPr lang="en-US" b="1" dirty="0"/>
              <a:t>Score 5:</a:t>
            </a:r>
            <a:r>
              <a:rPr lang="en-US" dirty="0"/>
              <a:t> Top 20% (Best performance in that category).</a:t>
            </a:r>
          </a:p>
          <a:p>
            <a:r>
              <a:rPr lang="en-US" b="1" dirty="0"/>
              <a:t>Score 1:</a:t>
            </a:r>
            <a:r>
              <a:rPr lang="en-US" dirty="0"/>
              <a:t> Bottom 20% (Worst performance in that category).</a:t>
            </a:r>
          </a:p>
          <a:p>
            <a:endParaRPr lang="en-US" b="1" dirty="0"/>
          </a:p>
          <a:p>
            <a:r>
              <a:rPr lang="en-US" b="1" dirty="0"/>
              <a:t>3. Segmentation Output </a:t>
            </a:r>
            <a:r>
              <a:rPr lang="en-IN" b="1" dirty="0"/>
              <a:t>(Order 1–4)</a:t>
            </a:r>
            <a:r>
              <a:rPr lang="en-US" b="1" dirty="0"/>
              <a:t>:</a:t>
            </a:r>
          </a:p>
          <a:p>
            <a:r>
              <a:rPr lang="en-US" dirty="0"/>
              <a:t>High Value, Medium Value, Low Value, Dormant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9BA57-E63D-93E1-46D9-A54C44C512E8}"/>
              </a:ext>
            </a:extLst>
          </p:cNvPr>
          <p:cNvSpPr txBox="1"/>
          <p:nvPr/>
        </p:nvSpPr>
        <p:spPr>
          <a:xfrm>
            <a:off x="398899" y="90099"/>
            <a:ext cx="11696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 err="1">
                <a:solidFill>
                  <a:schemeClr val="accent1"/>
                </a:solidFill>
              </a:rPr>
              <a:t>Behavioral</a:t>
            </a:r>
            <a:r>
              <a:rPr lang="en-IN" sz="3600" b="1" u="sng" dirty="0">
                <a:solidFill>
                  <a:schemeClr val="accent1"/>
                </a:solidFill>
              </a:rPr>
              <a:t> Segmentation Methodology (RFM)</a:t>
            </a:r>
            <a:endParaRPr lang="en-IN" sz="3600" u="sng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A3EC0-02D6-6318-C6ED-0B20D085C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382" y="1147260"/>
            <a:ext cx="4706992" cy="3827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BF2F75-7322-F72E-27BC-51F4E0210D4F}"/>
              </a:ext>
            </a:extLst>
          </p:cNvPr>
          <p:cNvSpPr txBox="1"/>
          <p:nvPr/>
        </p:nvSpPr>
        <p:spPr>
          <a:xfrm>
            <a:off x="7172025" y="736430"/>
            <a:ext cx="4375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Visual: 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93E42-71F1-5F48-7A9E-288A9D6FF328}"/>
              </a:ext>
            </a:extLst>
          </p:cNvPr>
          <p:cNvSpPr txBox="1"/>
          <p:nvPr/>
        </p:nvSpPr>
        <p:spPr>
          <a:xfrm>
            <a:off x="7253831" y="5112048"/>
            <a:ext cx="45515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“Concentration of Customer Value: The top-right red zone represents high-frequency, recent buyers (Champions).”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912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1210-E0D8-2533-849A-501B83EE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62" y="1767431"/>
            <a:ext cx="3501196" cy="3909213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/>
              <a:t>High Value: </a:t>
            </a:r>
            <a:r>
              <a:rPr lang="en-US" sz="1800" dirty="0"/>
              <a:t>Recent buyers who spend heavily and frequently.</a:t>
            </a:r>
            <a:br>
              <a:rPr lang="en-US" sz="1800" dirty="0"/>
            </a:br>
            <a:r>
              <a:rPr lang="en-US" sz="1800" b="1" dirty="0"/>
              <a:t>Medium Value: </a:t>
            </a:r>
            <a:r>
              <a:rPr lang="en-US" sz="1800" dirty="0"/>
              <a:t>Regular shoppers with average spending habits.</a:t>
            </a:r>
            <a:br>
              <a:rPr lang="en-US" sz="1800" dirty="0"/>
            </a:br>
            <a:r>
              <a:rPr lang="en-US" sz="1800" b="1" dirty="0"/>
              <a:t>Low Value: </a:t>
            </a:r>
            <a:r>
              <a:rPr lang="en-US" sz="1800" dirty="0"/>
              <a:t>Infrequent buyers or low-ticket purchasers.</a:t>
            </a:r>
            <a:br>
              <a:rPr lang="en-US" sz="1800" dirty="0"/>
            </a:br>
            <a:r>
              <a:rPr lang="en-US" sz="1800" b="1" dirty="0"/>
              <a:t>Dormant: </a:t>
            </a:r>
            <a:r>
              <a:rPr lang="en-US" sz="1800" dirty="0"/>
              <a:t>High past activity but haven't purchased recently (Low Recency).</a:t>
            </a:r>
            <a:br>
              <a:rPr lang="en-US" sz="1800" dirty="0"/>
            </a:b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4E74B-984D-851D-7535-5E1AB99FF9CB}"/>
              </a:ext>
            </a:extLst>
          </p:cNvPr>
          <p:cNvSpPr txBox="1"/>
          <p:nvPr/>
        </p:nvSpPr>
        <p:spPr>
          <a:xfrm>
            <a:off x="770021" y="1660359"/>
            <a:ext cx="3729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The Visual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A1A99-6EA3-71F7-F3AE-DAE8F7F9F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687" y="692135"/>
            <a:ext cx="5926192" cy="4818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A24E87-E9EE-5231-8981-B7612CCBE577}"/>
                  </a:ext>
                </a:extLst>
              </p14:cNvPr>
              <p14:cNvContentPartPr/>
              <p14:nvPr/>
            </p14:nvContentPartPr>
            <p14:xfrm>
              <a:off x="6965159" y="1582942"/>
              <a:ext cx="6480" cy="3762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A24E87-E9EE-5231-8981-B7612CCBE5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56519" y="1573942"/>
                <a:ext cx="24120" cy="37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E358FDB-16FB-F8F7-251B-2DA6B96DC75E}"/>
                  </a:ext>
                </a:extLst>
              </p14:cNvPr>
              <p14:cNvContentPartPr/>
              <p14:nvPr/>
            </p14:nvContentPartPr>
            <p14:xfrm>
              <a:off x="6977399" y="1577182"/>
              <a:ext cx="42721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E358FDB-16FB-F8F7-251B-2DA6B96DC7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8399" y="1559182"/>
                <a:ext cx="4289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8601297-4F42-CA42-5DC5-4B754A2D52A4}"/>
                  </a:ext>
                </a:extLst>
              </p14:cNvPr>
              <p14:cNvContentPartPr/>
              <p14:nvPr/>
            </p14:nvContentPartPr>
            <p14:xfrm>
              <a:off x="11242679" y="1589062"/>
              <a:ext cx="18720" cy="718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8601297-4F42-CA42-5DC5-4B754A2D52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33679" y="1580062"/>
                <a:ext cx="3636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E242AD3-98C9-C38A-84BE-C72DB358FDCE}"/>
                  </a:ext>
                </a:extLst>
              </p14:cNvPr>
              <p14:cNvContentPartPr/>
              <p14:nvPr/>
            </p14:nvContentPartPr>
            <p14:xfrm>
              <a:off x="7811879" y="2282782"/>
              <a:ext cx="3424680" cy="18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E242AD3-98C9-C38A-84BE-C72DB358FD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03239" y="2273782"/>
                <a:ext cx="34423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A7185DE-89F0-0B19-6C2F-8EB89FECA943}"/>
                  </a:ext>
                </a:extLst>
              </p14:cNvPr>
              <p14:cNvContentPartPr/>
              <p14:nvPr/>
            </p14:nvContentPartPr>
            <p14:xfrm>
              <a:off x="7811879" y="2301142"/>
              <a:ext cx="720" cy="3039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A7185DE-89F0-0B19-6C2F-8EB89FECA94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93879" y="2292142"/>
                <a:ext cx="36000" cy="30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B9D9A24-381E-972E-10E6-F9A78E6222E5}"/>
                  </a:ext>
                </a:extLst>
              </p14:cNvPr>
              <p14:cNvContentPartPr/>
              <p14:nvPr/>
            </p14:nvContentPartPr>
            <p14:xfrm>
              <a:off x="6983519" y="5332702"/>
              <a:ext cx="804240" cy="18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B9D9A24-381E-972E-10E6-F9A78E6222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74519" y="5324062"/>
                <a:ext cx="8218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D618D15-B741-5952-08DB-E613C0C5FBF8}"/>
                  </a:ext>
                </a:extLst>
              </p14:cNvPr>
              <p14:cNvContentPartPr/>
              <p14:nvPr/>
            </p14:nvContentPartPr>
            <p14:xfrm>
              <a:off x="7873079" y="2362702"/>
              <a:ext cx="338400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D618D15-B741-5952-08DB-E613C0C5FBF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64439" y="2344702"/>
                <a:ext cx="3401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5C7CA5C-6087-6D2E-D5EF-D03CBAE00EB7}"/>
                  </a:ext>
                </a:extLst>
              </p14:cNvPr>
              <p14:cNvContentPartPr/>
              <p14:nvPr/>
            </p14:nvContentPartPr>
            <p14:xfrm>
              <a:off x="7867319" y="2381062"/>
              <a:ext cx="360" cy="2945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5C7CA5C-6087-6D2E-D5EF-D03CBAE00EB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58679" y="2372062"/>
                <a:ext cx="18000" cy="29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4B6400-2203-A861-F397-83E53CAFAABD}"/>
                  </a:ext>
                </a:extLst>
              </p14:cNvPr>
              <p14:cNvContentPartPr/>
              <p14:nvPr/>
            </p14:nvContentPartPr>
            <p14:xfrm>
              <a:off x="9499919" y="3878302"/>
              <a:ext cx="18720" cy="1448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4B6400-2203-A861-F397-83E53CAFAAB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490919" y="3869302"/>
                <a:ext cx="36360" cy="14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AC57D20-F234-141C-C796-A18D109B66DF}"/>
                  </a:ext>
                </a:extLst>
              </p14:cNvPr>
              <p14:cNvContentPartPr/>
              <p14:nvPr/>
            </p14:nvContentPartPr>
            <p14:xfrm>
              <a:off x="11242679" y="2374942"/>
              <a:ext cx="720" cy="1454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AC57D20-F234-141C-C796-A18D109B66D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224679" y="2365942"/>
                <a:ext cx="36000" cy="14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6A17EC6-163D-3CC1-D1CA-D98897600753}"/>
                  </a:ext>
                </a:extLst>
              </p14:cNvPr>
              <p14:cNvContentPartPr/>
              <p14:nvPr/>
            </p14:nvContentPartPr>
            <p14:xfrm>
              <a:off x="9536639" y="3829342"/>
              <a:ext cx="1706040" cy="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6A17EC6-163D-3CC1-D1CA-D9889760075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527999" y="3811342"/>
                <a:ext cx="1723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FE0674F-C1FE-29D2-701A-18537ADA7249}"/>
                  </a:ext>
                </a:extLst>
              </p14:cNvPr>
              <p14:cNvContentPartPr/>
              <p14:nvPr/>
            </p14:nvContentPartPr>
            <p14:xfrm>
              <a:off x="9518279" y="3846982"/>
              <a:ext cx="5040" cy="25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FE0674F-C1FE-29D2-701A-18537ADA724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509639" y="3838342"/>
                <a:ext cx="226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8192564-7418-3D32-D0BF-B9D5FE050CA5}"/>
                  </a:ext>
                </a:extLst>
              </p14:cNvPr>
              <p14:cNvContentPartPr/>
              <p14:nvPr/>
            </p14:nvContentPartPr>
            <p14:xfrm>
              <a:off x="7879559" y="5320462"/>
              <a:ext cx="1614600" cy="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8192564-7418-3D32-D0BF-B9D5FE050CA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870559" y="5302462"/>
                <a:ext cx="1632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EE58C31-3E12-6184-025D-85E1C6F5B5C3}"/>
                  </a:ext>
                </a:extLst>
              </p14:cNvPr>
              <p14:cNvContentPartPr/>
              <p14:nvPr/>
            </p14:nvContentPartPr>
            <p14:xfrm>
              <a:off x="9572999" y="3884422"/>
              <a:ext cx="720" cy="1467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EE58C31-3E12-6184-025D-85E1C6F5B5C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54999" y="3875422"/>
                <a:ext cx="36000" cy="14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85E41E5-67D0-0C2E-EC8A-327F8B0791B1}"/>
                  </a:ext>
                </a:extLst>
              </p14:cNvPr>
              <p14:cNvContentPartPr/>
              <p14:nvPr/>
            </p14:nvContentPartPr>
            <p14:xfrm>
              <a:off x="9579479" y="5295982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85E41E5-67D0-0C2E-EC8A-327F8B0791B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570839" y="528734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8CBDE8A-4F57-27AA-02D3-64107A0075E5}"/>
                  </a:ext>
                </a:extLst>
              </p14:cNvPr>
              <p14:cNvContentPartPr/>
              <p14:nvPr/>
            </p14:nvContentPartPr>
            <p14:xfrm>
              <a:off x="9579479" y="5289502"/>
              <a:ext cx="828720" cy="25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8CBDE8A-4F57-27AA-02D3-64107A0075E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570839" y="5280862"/>
                <a:ext cx="846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918DE82-DB3F-81C7-4759-7CA728A0F504}"/>
                  </a:ext>
                </a:extLst>
              </p14:cNvPr>
              <p14:cNvContentPartPr/>
              <p14:nvPr/>
            </p14:nvContentPartPr>
            <p14:xfrm>
              <a:off x="9622319" y="3890902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918DE82-DB3F-81C7-4759-7CA728A0F50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613679" y="388190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AFFC5F4-94D1-754D-EA4B-3C6549717EAB}"/>
                  </a:ext>
                </a:extLst>
              </p14:cNvPr>
              <p14:cNvContentPartPr/>
              <p14:nvPr/>
            </p14:nvContentPartPr>
            <p14:xfrm>
              <a:off x="9585959" y="3890542"/>
              <a:ext cx="1658520" cy="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AFFC5F4-94D1-754D-EA4B-3C6549717EA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76959" y="3872542"/>
                <a:ext cx="167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C2E5F4F-86BB-27C8-DC76-9289FA06791D}"/>
                  </a:ext>
                </a:extLst>
              </p14:cNvPr>
              <p14:cNvContentPartPr/>
              <p14:nvPr/>
            </p14:nvContentPartPr>
            <p14:xfrm>
              <a:off x="11230439" y="3902782"/>
              <a:ext cx="720" cy="706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C2E5F4F-86BB-27C8-DC76-9289FA06791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212439" y="3894142"/>
                <a:ext cx="3600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3BB12F7-177F-4C92-505C-46AB5CF0794D}"/>
                  </a:ext>
                </a:extLst>
              </p14:cNvPr>
              <p14:cNvContentPartPr/>
              <p14:nvPr/>
            </p14:nvContentPartPr>
            <p14:xfrm>
              <a:off x="10426199" y="4583902"/>
              <a:ext cx="828720" cy="24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3BB12F7-177F-4C92-505C-46AB5CF0794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417559" y="4575262"/>
                <a:ext cx="8463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FEFC457-2DBB-7215-D779-84842D13FCD4}"/>
                  </a:ext>
                </a:extLst>
              </p14:cNvPr>
              <p14:cNvContentPartPr/>
              <p14:nvPr/>
            </p14:nvContentPartPr>
            <p14:xfrm>
              <a:off x="10426199" y="4583902"/>
              <a:ext cx="720" cy="731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FEFC457-2DBB-7215-D779-84842D13FCD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08199" y="4575262"/>
                <a:ext cx="3600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40DE11E-0435-DCC3-E4F1-DECECA0F3412}"/>
                  </a:ext>
                </a:extLst>
              </p14:cNvPr>
              <p14:cNvContentPartPr/>
              <p14:nvPr/>
            </p14:nvContentPartPr>
            <p14:xfrm>
              <a:off x="10463279" y="4657342"/>
              <a:ext cx="18720" cy="657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40DE11E-0435-DCC3-E4F1-DECECA0F341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454279" y="4648702"/>
                <a:ext cx="3636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E287B5A-7E26-9980-626A-B4232DBB9FD0}"/>
                  </a:ext>
                </a:extLst>
              </p14:cNvPr>
              <p14:cNvContentPartPr/>
              <p14:nvPr/>
            </p14:nvContentPartPr>
            <p14:xfrm>
              <a:off x="10481639" y="5302102"/>
              <a:ext cx="761040" cy="12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E287B5A-7E26-9980-626A-B4232DBB9F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472999" y="5293102"/>
                <a:ext cx="7786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3E67097-9429-786C-FB75-CC44D875CA89}"/>
                  </a:ext>
                </a:extLst>
              </p14:cNvPr>
              <p14:cNvContentPartPr/>
              <p14:nvPr/>
            </p14:nvContentPartPr>
            <p14:xfrm>
              <a:off x="11205599" y="4663822"/>
              <a:ext cx="37440" cy="638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3E67097-9429-786C-FB75-CC44D875CA8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196599" y="4654822"/>
                <a:ext cx="5508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8790D3D-12D2-D756-E9A3-3ED47BA4F930}"/>
                  </a:ext>
                </a:extLst>
              </p14:cNvPr>
              <p14:cNvContentPartPr/>
              <p14:nvPr/>
            </p14:nvContentPartPr>
            <p14:xfrm>
              <a:off x="10481639" y="4663822"/>
              <a:ext cx="724320" cy="64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8790D3D-12D2-D756-E9A3-3ED47BA4F93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472999" y="4654822"/>
                <a:ext cx="741960" cy="2412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Arrow: Down 65">
            <a:extLst>
              <a:ext uri="{FF2B5EF4-FFF2-40B4-BE49-F238E27FC236}">
                <a16:creationId xmlns:a16="http://schemas.microsoft.com/office/drawing/2014/main" id="{D622169F-909B-3E48-720C-0F92861D9CA9}"/>
              </a:ext>
            </a:extLst>
          </p:cNvPr>
          <p:cNvSpPr/>
          <p:nvPr/>
        </p:nvSpPr>
        <p:spPr>
          <a:xfrm>
            <a:off x="7217009" y="5210239"/>
            <a:ext cx="484632" cy="3915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76A10F40-99EC-DAB8-4E27-42DCF5731AF1}"/>
              </a:ext>
            </a:extLst>
          </p:cNvPr>
          <p:cNvSpPr/>
          <p:nvPr/>
        </p:nvSpPr>
        <p:spPr>
          <a:xfrm>
            <a:off x="8455945" y="5153091"/>
            <a:ext cx="484632" cy="6686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17EBF70D-8940-18FC-D5C5-109A5000C983}"/>
              </a:ext>
            </a:extLst>
          </p:cNvPr>
          <p:cNvSpPr/>
          <p:nvPr/>
        </p:nvSpPr>
        <p:spPr>
          <a:xfrm>
            <a:off x="10630143" y="5210238"/>
            <a:ext cx="484632" cy="1260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9C7240BC-9100-E157-52A1-F75D4C96119D}"/>
              </a:ext>
            </a:extLst>
          </p:cNvPr>
          <p:cNvSpPr/>
          <p:nvPr/>
        </p:nvSpPr>
        <p:spPr>
          <a:xfrm>
            <a:off x="9730283" y="5185225"/>
            <a:ext cx="484632" cy="9532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3EA9CA-5046-D4AA-4CFE-47C1CCDE40AE}"/>
              </a:ext>
            </a:extLst>
          </p:cNvPr>
          <p:cNvSpPr txBox="1"/>
          <p:nvPr/>
        </p:nvSpPr>
        <p:spPr>
          <a:xfrm>
            <a:off x="6965159" y="5592381"/>
            <a:ext cx="117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Dormant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D2154A-90A0-F822-EBBD-9C9A6724D89D}"/>
              </a:ext>
            </a:extLst>
          </p:cNvPr>
          <p:cNvSpPr txBox="1"/>
          <p:nvPr/>
        </p:nvSpPr>
        <p:spPr>
          <a:xfrm>
            <a:off x="8155654" y="5796533"/>
            <a:ext cx="1326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Low-Value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737690-AE9F-FBA3-17A5-5C2D26CE1AC6}"/>
              </a:ext>
            </a:extLst>
          </p:cNvPr>
          <p:cNvSpPr txBox="1"/>
          <p:nvPr/>
        </p:nvSpPr>
        <p:spPr>
          <a:xfrm>
            <a:off x="9007853" y="6062869"/>
            <a:ext cx="177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Medium-Value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AF39FC-28F9-918A-0401-82DC7FBF2E16}"/>
              </a:ext>
            </a:extLst>
          </p:cNvPr>
          <p:cNvSpPr txBox="1"/>
          <p:nvPr/>
        </p:nvSpPr>
        <p:spPr>
          <a:xfrm>
            <a:off x="10387893" y="6416239"/>
            <a:ext cx="16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High-Value</a:t>
            </a:r>
          </a:p>
        </p:txBody>
      </p:sp>
    </p:spTree>
    <p:extLst>
      <p:ext uri="{BB962C8B-B14F-4D97-AF65-F5344CB8AC3E}">
        <p14:creationId xmlns:p14="http://schemas.microsoft.com/office/powerpoint/2010/main" val="55913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932BC6-D0F2-73F3-938E-45392925778D}"/>
              </a:ext>
            </a:extLst>
          </p:cNvPr>
          <p:cNvSpPr txBox="1"/>
          <p:nvPr/>
        </p:nvSpPr>
        <p:spPr>
          <a:xfrm>
            <a:off x="3067700" y="-51365"/>
            <a:ext cx="5774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u="sng" dirty="0">
                <a:solidFill>
                  <a:schemeClr val="accent1"/>
                </a:solidFill>
              </a:rPr>
              <a:t>The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12351-8C25-F5B6-05A4-CD1EE770F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21"/>
            <a:ext cx="12192000" cy="619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32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FB46-6AE2-11F7-BBFF-5B3C5BA3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326165"/>
            <a:ext cx="3501196" cy="2456442"/>
          </a:xfrm>
        </p:spPr>
        <p:txBody>
          <a:bodyPr>
            <a:normAutofit fontScale="90000"/>
          </a:bodyPr>
          <a:lstStyle/>
          <a:p>
            <a:pPr algn="l"/>
            <a:br>
              <a:rPr lang="en-US" sz="2200" b="1" dirty="0"/>
            </a:br>
            <a:r>
              <a:rPr lang="en-US" sz="2200" b="1" dirty="0"/>
              <a:t>Profile:</a:t>
            </a:r>
            <a:r>
              <a:rPr lang="en-US" sz="2200" dirty="0"/>
              <a:t> Top-tier spenders who buy frequently.</a:t>
            </a:r>
            <a:br>
              <a:rPr lang="en-US" sz="2200" dirty="0"/>
            </a:br>
            <a:r>
              <a:rPr lang="en-US" sz="2200" b="1" dirty="0"/>
              <a:t>Goal:</a:t>
            </a:r>
            <a:r>
              <a:rPr lang="en-US" sz="2200" dirty="0"/>
              <a:t> </a:t>
            </a:r>
            <a:r>
              <a:rPr lang="en-US" sz="2200" b="1" dirty="0"/>
              <a:t>Retention &amp; Advocacy.</a:t>
            </a:r>
            <a:br>
              <a:rPr lang="en-US" sz="2200" dirty="0"/>
            </a:br>
            <a:r>
              <a:rPr lang="en-US" sz="2200" b="1" dirty="0"/>
              <a:t>Strategy:</a:t>
            </a:r>
            <a:r>
              <a:rPr lang="en-US" sz="2200" dirty="0"/>
              <a:t> Implement a VIP Tiered Loyalty Program. Offer early access to new products and exclusive "Member-Only" discounts to lock in their loyalty.</a:t>
            </a:r>
            <a:br>
              <a:rPr lang="en-US" dirty="0"/>
            </a:b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B70D5-307B-1C34-70E7-52AB7E05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21" y="1636733"/>
            <a:ext cx="5657850" cy="3400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403BD0-ABD7-99C0-D3E8-979C906989B6}"/>
              </a:ext>
            </a:extLst>
          </p:cNvPr>
          <p:cNvSpPr txBox="1"/>
          <p:nvPr/>
        </p:nvSpPr>
        <p:spPr>
          <a:xfrm>
            <a:off x="782161" y="1718588"/>
            <a:ext cx="3501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 </a:t>
            </a:r>
            <a:r>
              <a:rPr lang="en-US" sz="2800" b="1" dirty="0">
                <a:solidFill>
                  <a:schemeClr val="bg1"/>
                </a:solidFill>
              </a:rPr>
              <a:t>High Value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824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610C-07C9-2C88-3602-5239C443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551A-34D3-CC9F-02A3-2E9AF690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76" y="2695496"/>
            <a:ext cx="3501196" cy="2456442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b="1" dirty="0"/>
              <a:t>Profile:</a:t>
            </a:r>
            <a:r>
              <a:rPr lang="en-US" sz="2200" dirty="0"/>
              <a:t> Steady customers with average basket size.</a:t>
            </a:r>
            <a:br>
              <a:rPr lang="en-US" sz="2200" dirty="0"/>
            </a:br>
            <a:r>
              <a:rPr lang="en-US" sz="2200" b="1" dirty="0"/>
              <a:t>Goal:</a:t>
            </a:r>
            <a:r>
              <a:rPr lang="en-US" sz="2200" dirty="0"/>
              <a:t> </a:t>
            </a:r>
            <a:r>
              <a:rPr lang="en-US" sz="2200" b="1" dirty="0"/>
              <a:t>Upsell &amp; Growth.</a:t>
            </a:r>
            <a:br>
              <a:rPr lang="en-US" sz="2200" dirty="0"/>
            </a:br>
            <a:r>
              <a:rPr lang="en-US" sz="2200" b="1" dirty="0"/>
              <a:t>Strategy:</a:t>
            </a:r>
            <a:r>
              <a:rPr lang="en-US" sz="2200" dirty="0"/>
              <a:t> Use "Basket Analysis" (Market Basket) to recommend complementary products. Send personalized "Complete the Look" emails to increase their Average Order Value (AOV).</a:t>
            </a:r>
            <a:br>
              <a:rPr lang="en-US" dirty="0"/>
            </a:br>
            <a:br>
              <a:rPr lang="en-US" dirty="0"/>
            </a:b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DDAD7-DD9E-B80E-B144-5B5A65971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21" y="1636733"/>
            <a:ext cx="5657850" cy="3400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0128C-9E04-6245-BB47-5F77EE06AA46}"/>
              </a:ext>
            </a:extLst>
          </p:cNvPr>
          <p:cNvSpPr txBox="1"/>
          <p:nvPr/>
        </p:nvSpPr>
        <p:spPr>
          <a:xfrm>
            <a:off x="615929" y="1706062"/>
            <a:ext cx="3911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Medium Value</a:t>
            </a:r>
          </a:p>
        </p:txBody>
      </p:sp>
    </p:spTree>
    <p:extLst>
      <p:ext uri="{BB962C8B-B14F-4D97-AF65-F5344CB8AC3E}">
        <p14:creationId xmlns:p14="http://schemas.microsoft.com/office/powerpoint/2010/main" val="614316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3E95F-3A13-39B8-A8E3-B24A529D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DFE3-E86F-17FE-21A2-A8808CC3F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326165"/>
            <a:ext cx="3501196" cy="2456442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Profile:</a:t>
            </a:r>
            <a:r>
              <a:rPr lang="en-US" sz="2000" dirty="0"/>
              <a:t> Previously active customers who haven't purchased recently.</a:t>
            </a:r>
            <a:br>
              <a:rPr lang="en-US" sz="2000" dirty="0"/>
            </a:br>
            <a:r>
              <a:rPr lang="en-US" sz="2000" b="1" dirty="0"/>
              <a:t>Goal:</a:t>
            </a:r>
            <a:r>
              <a:rPr lang="en-US" sz="2000" dirty="0"/>
              <a:t> </a:t>
            </a:r>
            <a:r>
              <a:rPr lang="en-US" sz="2000" b="1" dirty="0"/>
              <a:t>Reactivation.</a:t>
            </a:r>
            <a:br>
              <a:rPr lang="en-US" sz="2000" dirty="0"/>
            </a:br>
            <a:r>
              <a:rPr lang="en-US" sz="2000" b="1" dirty="0"/>
              <a:t>Strategy:</a:t>
            </a:r>
            <a:r>
              <a:rPr lang="en-US" sz="2000" dirty="0"/>
              <a:t> Launch an aggressive "Win-Back" campaign. Send surveys to understand </a:t>
            </a:r>
            <a:r>
              <a:rPr lang="en-US" sz="2000" i="1" dirty="0"/>
              <a:t>why</a:t>
            </a:r>
            <a:r>
              <a:rPr lang="en-US" sz="2000" dirty="0"/>
              <a:t> they left, coupled with a high-value, time-sensitive discount (e.g., "We miss you – Take 20% off").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AC52D-2AF2-3EA2-7B69-5F60EA847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21" y="1636733"/>
            <a:ext cx="5657850" cy="3400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F7D3E4-D641-6262-19E9-BA68D6CE5DC8}"/>
              </a:ext>
            </a:extLst>
          </p:cNvPr>
          <p:cNvSpPr txBox="1"/>
          <p:nvPr/>
        </p:nvSpPr>
        <p:spPr>
          <a:xfrm>
            <a:off x="833399" y="1706062"/>
            <a:ext cx="3501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Dormant</a:t>
            </a:r>
          </a:p>
        </p:txBody>
      </p:sp>
    </p:spTree>
    <p:extLst>
      <p:ext uri="{BB962C8B-B14F-4D97-AF65-F5344CB8AC3E}">
        <p14:creationId xmlns:p14="http://schemas.microsoft.com/office/powerpoint/2010/main" val="2746746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55561-7F01-DBE6-3A35-E3DCE3A10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908B-CE71-8797-1750-7293DAA1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326165"/>
            <a:ext cx="3501196" cy="2456442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Profile:</a:t>
            </a:r>
            <a:r>
              <a:rPr lang="en-US" sz="2000" dirty="0"/>
              <a:t> Occasional shoppers or one-time buyers.</a:t>
            </a:r>
            <a:br>
              <a:rPr lang="en-US" sz="2000" dirty="0"/>
            </a:br>
            <a:r>
              <a:rPr lang="en-US" sz="2000" b="1" dirty="0"/>
              <a:t>Goal:</a:t>
            </a:r>
            <a:r>
              <a:rPr lang="en-US" sz="2000" dirty="0"/>
              <a:t> </a:t>
            </a:r>
            <a:r>
              <a:rPr lang="en-US" sz="2000" b="1" dirty="0"/>
              <a:t>Consistent Engagement.</a:t>
            </a:r>
            <a:br>
              <a:rPr lang="en-US" sz="2000" dirty="0"/>
            </a:br>
            <a:r>
              <a:rPr lang="en-US" sz="2000" b="1" dirty="0"/>
              <a:t>Strategy:</a:t>
            </a:r>
            <a:r>
              <a:rPr lang="en-US" sz="2000" dirty="0"/>
              <a:t> Automate engagement using low-cost channels (Push Notifications / Newsletters). Keep the brand top-of-mind without spending high ad budgets.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CC245-FDC0-3F38-B53D-832974A0A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21" y="1636733"/>
            <a:ext cx="5657850" cy="3400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BA4638-81F6-2D0F-3ECA-5FDCC2A7C605}"/>
              </a:ext>
            </a:extLst>
          </p:cNvPr>
          <p:cNvSpPr txBox="1"/>
          <p:nvPr/>
        </p:nvSpPr>
        <p:spPr>
          <a:xfrm>
            <a:off x="888632" y="1706063"/>
            <a:ext cx="3501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Low Value</a:t>
            </a:r>
          </a:p>
        </p:txBody>
      </p:sp>
    </p:spTree>
    <p:extLst>
      <p:ext uri="{BB962C8B-B14F-4D97-AF65-F5344CB8AC3E}">
        <p14:creationId xmlns:p14="http://schemas.microsoft.com/office/powerpoint/2010/main" val="3492341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822E-C11E-E62F-631F-0E2A8B12F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18322413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587</TotalTime>
  <Words>801</Words>
  <Application>Microsoft Office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 Light</vt:lpstr>
      <vt:lpstr>Rockwell</vt:lpstr>
      <vt:lpstr>Wingdings</vt:lpstr>
      <vt:lpstr>Atlas</vt:lpstr>
      <vt:lpstr>Strategic Customer Segmentation &amp; Revenue Optimization</vt:lpstr>
      <vt:lpstr>Business Objective  (The "Why")</vt:lpstr>
      <vt:lpstr>   Source: [Kaggle - E-commerce Dataset]  Size: (541909, 8)  Timeframe: 01/12/2010 to 09/12/2011</vt:lpstr>
      <vt:lpstr>Data Preparation &amp; Integrity</vt:lpstr>
      <vt:lpstr>Data Preparation &amp; Integrity</vt:lpstr>
      <vt:lpstr>Data Preparation &amp; Integrity</vt:lpstr>
      <vt:lpstr>Pareto Principle: “A small fraction of inputs generates the bulk of the results”</vt:lpstr>
      <vt:lpstr>The Customer Insight </vt:lpstr>
      <vt:lpstr>The Product Insight </vt:lpstr>
      <vt:lpstr>PowerPoint Presentation</vt:lpstr>
      <vt:lpstr>High Value: Recent buyers who spend heavily and frequently. Medium Value: Regular shoppers with average spending habits. Low Value: Infrequent buyers or low-ticket purchasers. Dormant: High past activity but haven't purchased recently (Low Recency). </vt:lpstr>
      <vt:lpstr>PowerPoint Presentation</vt:lpstr>
      <vt:lpstr> Profile: Top-tier spenders who buy frequently. Goal: Retention &amp; Advocacy. Strategy: Implement a VIP Tiered Loyalty Program. Offer early access to new products and exclusive "Member-Only" discounts to lock in their loyalty. </vt:lpstr>
      <vt:lpstr>Profile: Steady customers with average basket size. Goal: Upsell &amp; Growth. Strategy: Use "Basket Analysis" (Market Basket) to recommend complementary products. Send personalized "Complete the Look" emails to increase their Average Order Value (AOV).  </vt:lpstr>
      <vt:lpstr>Profile: Previously active customers who haven't purchased recently. Goal: Reactivation. Strategy: Launch an aggressive "Win-Back" campaign. Send surveys to understand why they left, coupled with a high-value, time-sensitive discount (e.g., "We miss you – Take 20% off").</vt:lpstr>
      <vt:lpstr>Profile: Occasional shoppers or one-time buyers. Goal: Consistent Engagement. Strategy: Automate engagement using low-cost channels (Push Notifications / Newsletters). Keep the brand top-of-mind without spending high ad budgets.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Narayana Reddy</dc:creator>
  <cp:lastModifiedBy>Adi Narayana Reddy</cp:lastModifiedBy>
  <cp:revision>4</cp:revision>
  <dcterms:created xsi:type="dcterms:W3CDTF">2026-01-15T10:24:16Z</dcterms:created>
  <dcterms:modified xsi:type="dcterms:W3CDTF">2026-01-17T15:38:04Z</dcterms:modified>
</cp:coreProperties>
</file>